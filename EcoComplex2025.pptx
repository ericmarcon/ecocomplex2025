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ericmarcon.github.io/divent/" TargetMode="External" /><Relationship Id="rId3" Type="http://schemas.openxmlformats.org/officeDocument/2006/relationships/hyperlink" Target="https://ericmarcon.github.io/MesuresBioDiv2" TargetMode="External" /><Relationship Id="rId4" Type="http://schemas.openxmlformats.org/officeDocument/2006/relationships/hyperlink" Target="https://ericmarcon.github.io/MesuresBioDiv2/MesuresBD.pdf" TargetMode="Externa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2307/2335915" TargetMode="External" /><Relationship Id="rId3" Type="http://schemas.openxmlformats.org/officeDocument/2006/relationships/hyperlink" Target="http://www.jstor.org/stable/4615964" TargetMode="External" /><Relationship Id="rId4" Type="http://schemas.openxmlformats.org/officeDocument/2006/relationships/hyperlink" Target="https://doi.org/10.1890/14-0550.1" TargetMode="External" /><Relationship Id="rId5" Type="http://schemas.openxmlformats.org/officeDocument/2006/relationships/hyperlink" Target="https://doi.org/10.1111/2041-210X.12349" TargetMode="External" /><Relationship Id="rId6" Type="http://schemas.openxmlformats.org/officeDocument/2006/relationships/hyperlink" Target="https://doi.org/10.1016/s0019-9958(70)80040-7" TargetMode="External" /><Relationship Id="rId7" Type="http://schemas.openxmlformats.org/officeDocument/2006/relationships/hyperlink" Target="https://doi.org/10.1371/journal.pone.0173305" TargetMode="External" /><Relationship Id="rId8" Type="http://schemas.openxmlformats.org/officeDocument/2006/relationships/hyperlink" Target="https://doi.org/10.1016/0040-5809(91)90056-L" TargetMode="External" /><Relationship Id="rId9" Type="http://schemas.openxmlformats.org/officeDocument/2006/relationships/hyperlink" Target="https://doi.org/10.2307/1934352" TargetMode="External" /><Relationship Id="rId10" Type="http://schemas.openxmlformats.org/officeDocument/2006/relationships/hyperlink" Target="https://doi.org/10.1111/j.2006.0030-1299.14714.x" TargetMode="External" /><Relationship Id="rId11" Type="http://schemas.openxmlformats.org/officeDocument/2006/relationships/hyperlink" Target="https://doi.org/10.1890/06-1736.1" TargetMode="External" /><Relationship Id="rId12" Type="http://schemas.openxmlformats.org/officeDocument/2006/relationships/hyperlink" Target="https://doi.org/10.2307/3545743" TargetMode="External" /><Relationship Id="rId13" Type="http://schemas.openxmlformats.org/officeDocument/2006/relationships/hyperlink" Target="https://doi.org/10.1126/science.aaf8957" TargetMode="External" /><Relationship Id="rId14" Type="http://schemas.openxmlformats.org/officeDocument/2006/relationships/hyperlink" Target="https://doi.org/10.1111/2041-210X.12323" TargetMode="External" /><Relationship Id="rId15" Type="http://schemas.openxmlformats.org/officeDocument/2006/relationships/hyperlink" Target="https://doi.org/10.1371/journal.pone.0090289" TargetMode="External" /><Relationship Id="rId16" Type="http://schemas.openxmlformats.org/officeDocument/2006/relationships/hyperlink" Target="https://doi.org/10.2307/2287709" TargetMode="External" /><Relationship Id="rId17" Type="http://schemas.openxmlformats.org/officeDocument/2006/relationships/hyperlink" Target="https://doi.org/10.1111/j.1469-185X.2010.00171.x" TargetMode="External" /><Relationship Id="rId18" Type="http://schemas.openxmlformats.org/officeDocument/2006/relationships/hyperlink" Target="https://doi.org/10.1007/s00442-012-2318-8" TargetMode="External" /><Relationship Id="rId19" Type="http://schemas.openxmlformats.org/officeDocument/2006/relationships/hyperlink" Target="https://doi.org/10.1002/j.1538-7305.1948.tb01338.x" TargetMode="External" /><Relationship Id="rId20" Type="http://schemas.openxmlformats.org/officeDocument/2006/relationships/hyperlink" Target="https://doi.org/10.2307/3236223" TargetMode="External" /><Relationship Id="rId21" Type="http://schemas.openxmlformats.org/officeDocument/2006/relationships/hyperlink" Target="https://doi.org/10.1103/PhysRevE.58.1442" TargetMode="External" /><Relationship Id="rId22" Type="http://schemas.openxmlformats.org/officeDocument/2006/relationships/hyperlink" Target="https://doi.org/10.2307/1943563" TargetMode="External" /><Relationship Id="rId23" Type="http://schemas.openxmlformats.org/officeDocument/2006/relationships/hyperlink" Target="https://doi.org/10.1126/science.147.3655.250" TargetMode="External" /><Relationship Id="rId24" Type="http://schemas.openxmlformats.org/officeDocument/2006/relationships/hyperlink" Target="https://www.genetics.org/content/16/2/97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Mesurer la Biodiversité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Eric Marcon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27 novembre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 Théorie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1.1 Entropie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Expérience à plusieurs résultats possibles : espèce à laquelle appartient un individu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{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s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S</m:t>
                        </m:r>
                      </m:sub>
                    </m:sSub>
                    <m:r>
                      <m:rPr>
                        <m:sty m:val="p"/>
                      </m:rPr>
                      <m:t>}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Probabilités associées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{</m:t>
                    </m:r>
                    <m:sSub>
                      <m:e>
                        <m:r>
                          <m:t>p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p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p</m:t>
                        </m:r>
                      </m:e>
                      <m:sub>
                        <m:r>
                          <m:t>s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p</m:t>
                        </m:r>
                      </m:e>
                      <m:sub>
                        <m:r>
                          <m:t>S</m:t>
                        </m:r>
                      </m:sub>
                    </m:sSub>
                    <m:r>
                      <m:rPr>
                        <m:sty m:val="p"/>
                      </m:rPr>
                      <m:t>}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Information </a:t>
                </a:r>
                <a14:m>
                  <m:oMath xmlns:m="http://schemas.openxmlformats.org/officeDocument/2006/math">
                    <m:r>
                      <m:t>I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b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s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, décroissante, </a:t>
                </a:r>
                <a14:m>
                  <m:oMath xmlns:m="http://schemas.openxmlformats.org/officeDocument/2006/math">
                    <m:r>
                      <m:t>I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Entropie = Information moyenne apportée par un individu: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s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s</m:t>
                            </m:r>
                          </m:sub>
                        </m:sSub>
                        <m:r>
                          <m:t>I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sSub>
                              <m:e>
                                <m:r>
                                  <m:t>p</m:t>
                                </m:r>
                              </m:e>
                              <m:sub>
                                <m:r>
                                  <m:t>s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1.2 Exemples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 fondateur : Shannon (1948)</a:t>
                </a:r>
              </a:p>
              <a:p>
                <a:pPr lvl="0"/>
                <a14:m>
                  <m:oMath xmlns:m="http://schemas.openxmlformats.org/officeDocument/2006/math">
                    <m:r>
                      <m:t>I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b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s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ln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b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s</m:t>
                            </m:r>
                          </m:sub>
                        </m:sSub>
                      </m:den>
                    </m:f>
                  </m:oMath>
                </a14:m>
              </a:p>
              <a:p>
                <a:pPr lvl="0"/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s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s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ln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m:t>p</m:t>
                                </m:r>
                              </m:e>
                              <m:sub>
                                <m:r>
                                  <m:t>s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</a:p>
              <a:p>
                <a:pPr lvl="0" indent="0" marL="0">
                  <a:buNone/>
                </a:pPr>
                <a:r>
                  <a:rPr/>
                  <a:t>Les généralisations :</a:t>
                </a:r>
              </a:p>
              <a:p>
                <a:pPr lvl="0"/>
                <a:r>
                  <a:rPr/>
                  <a:t>Rényi (1961) 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e>
                        <m:r>
                          <m:t>​</m:t>
                        </m:r>
                      </m:e>
                      <m:sup>
                        <m:r>
                          <m:t>α</m:t>
                        </m:r>
                      </m:sup>
                    </m:sSup>
                    <m:r>
                      <m:t>R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m:t>ln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s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Sup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s</m:t>
                            </m:r>
                          </m:sub>
                          <m:sup>
                            <m:r>
                              <m:t>α</m:t>
                            </m:r>
                          </m:sup>
                        </m:sSubSup>
                      </m:e>
                    </m:nary>
                  </m:oMath>
                </a14:m>
              </a:p>
              <a:p>
                <a:pPr lvl="0"/>
                <a:r>
                  <a:rPr/>
                  <a:t>Tsallis (1998) 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e>
                        <m:r>
                          <m:t>​</m:t>
                        </m:r>
                      </m:e>
                      <m:sup>
                        <m:r>
                          <m:t>q</m:t>
                        </m:r>
                      </m:sup>
                    </m:sSup>
                    <m:r>
                      <m:t>H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q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den>
                    </m:f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</m:naryPr>
                          <m:sub>
                            <m:r>
                              <m:t>s</m:t>
                            </m:r>
                          </m:sub>
                          <m:sup>
                            <m:r>
                              <m:t>​</m:t>
                            </m:r>
                          </m:sup>
                          <m:e>
                            <m:sSubSup>
                              <m:e>
                                <m:r>
                                  <m:t>p</m:t>
                                </m:r>
                              </m:e>
                              <m:sub>
                                <m:r>
                                  <m:t>s</m:t>
                                </m:r>
                              </m:sub>
                              <m:sup>
                                <m:r>
                                  <m:t>q</m:t>
                                </m:r>
                              </m:sup>
                            </m:sSubSup>
                          </m:e>
                        </m:nary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1"/>
                <a:r>
                  <a:rPr/>
                  <a:t>Appelée aussi HCDT (Havrda and Charvát 1967; Daróczy 1970; Tsallis 1998)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1.3 Axiomatique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 trois entropies respectent (Patil and Taillie 1982; Grabchak et al. 2017) :</a:t>
            </a:r>
          </a:p>
          <a:p>
            <a:pPr lvl="0"/>
            <a:r>
              <a:rPr/>
              <a:t>Symétrie</a:t>
            </a:r>
          </a:p>
          <a:p>
            <a:pPr lvl="0"/>
            <a:r>
              <a:rPr/>
              <a:t>Continuité par rapport aux probabilités</a:t>
            </a:r>
          </a:p>
          <a:p>
            <a:pPr lvl="0"/>
            <a:r>
              <a:rPr/>
              <a:t>Principe des transferts, qui contient:</a:t>
            </a:r>
          </a:p>
          <a:p>
            <a:pPr lvl="1"/>
            <a:r>
              <a:rPr/>
              <a:t>L’ajout d’une espèce augmente la diversité</a:t>
            </a:r>
          </a:p>
          <a:p>
            <a:pPr lvl="1"/>
            <a:r>
              <a:rPr/>
              <a:t>Maximisation si toutes les probabilités sont égales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1.4 Propriétés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sSup>
                      <m:e>
                        <m:r>
                          <m:t>​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t>H</m:t>
                    </m:r>
                  </m:oMath>
                </a14:m>
                <a:r>
                  <a:rPr/>
                  <a:t> est le nombre d’espèces -1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p>
                      <m:e>
                        <m:r>
                          <m:t>​</m:t>
                        </m:r>
                      </m:e>
                      <m:sup>
                        <m:r>
                          <m:t>1</m:t>
                        </m:r>
                      </m:sup>
                    </m:sSup>
                    <m:r>
                      <m:t>H</m:t>
                    </m:r>
                  </m:oMath>
                </a14:m>
                <a:r>
                  <a:rPr/>
                  <a:t> est l’entropie de Shannon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p>
                      <m:e>
                        <m:r>
                          <m:t>​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H</m:t>
                    </m:r>
                  </m:oMath>
                </a14:m>
                <a:r>
                  <a:rPr/>
                  <a:t> est l’entropie de Simpson :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s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Sup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s</m:t>
                            </m:r>
                          </m:sub>
                          <m:sup>
                            <m: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q</m:t>
                    </m:r>
                  </m:oMath>
                </a14:m>
                <a:r>
                  <a:rPr/>
                  <a:t> paramétrise l’importance des espèces rares.</a:t>
                </a:r>
              </a:p>
              <a:p>
                <a:pPr lvl="0" indent="0" marL="0">
                  <a:buNone/>
                </a:pPr>
                <a:r>
                  <a:rPr/>
                  <a:t>Application à la relation diversité-productivité en forêt Liang et al. (2016) : 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 Logarithmes déformés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Tsallis (1994):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ln</m:t>
                        </m:r>
                      </m:e>
                      <m:sub>
                        <m:r>
                          <m:t>q</m:t>
                        </m:r>
                      </m:sub>
                    </m:sSub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q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q</m:t>
                        </m:r>
                      </m:den>
                    </m:f>
                  </m:oMath>
                </a14:m>
              </a:p>
              <a:p>
                <a:pPr lvl="0"/>
                <a14:m>
                  <m:oMath xmlns:m="http://schemas.openxmlformats.org/officeDocument/2006/math"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q</m:t>
                        </m:r>
                      </m:sub>
                      <m:sup>
                        <m:r>
                          <m:t>x</m:t>
                        </m:r>
                      </m:sup>
                    </m:sSubSup>
                    <m:r>
                      <m:rPr>
                        <m:sty m:val="p"/>
                      </m:rPr>
                      <m:t>=</m:t>
                    </m:r>
                    <m:sSup>
                      <m:e>
                        <m:d>
                          <m:dPr>
                            <m:begChr m:val="["/>
                            <m:endChr m:val="]"/>
                            <m:sepChr m:val=""/>
                            <m:grow/>
                          </m:dPr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q</m:t>
                                </m:r>
                              </m:e>
                            </m:d>
                            <m:r>
                              <m:t>x</m:t>
                            </m:r>
                          </m:e>
                        </m:d>
                      </m:e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q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den>
                        </m:f>
                      </m:sup>
                    </m:sSup>
                  </m:oMath>
                </a14:m>
              </a:p>
              <a:p>
                <a:pPr lvl="0" indent="0" marL="0">
                  <a:buNone/>
                </a:pPr>
                <a:r>
                  <a:rPr/>
                  <a:t>Simplifie l’écriture de l’entropie HCDT (Marcon et al. 2014) 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p>
                      <m:e>
                        <m:r>
                          <m:t>​</m:t>
                        </m:r>
                      </m:e>
                      <m:sup>
                        <m:r>
                          <m:t>q</m:t>
                        </m:r>
                      </m:sup>
                    </m:sSup>
                    <m:r>
                      <m:t>H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s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s</m:t>
                            </m:r>
                          </m:sub>
                        </m:sSub>
                        <m:sSub>
                          <m:e>
                            <m:r>
                              <m:rPr>
                                <m:sty m:val="p"/>
                              </m:rPr>
                              <m:t>ln</m:t>
                            </m:r>
                          </m:e>
                          <m:sub>
                            <m:r>
                              <m:t>q</m:t>
                            </m:r>
                          </m:sub>
                        </m:sSub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m:t>p</m:t>
                                </m:r>
                              </m:e>
                              <m:sub>
                                <m:r>
                                  <m:t>s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1.6 Logarithmes déformés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pic>
        <p:nvPicPr>
          <p:cNvPr descr="EcoComplex2025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1.7 Résumé / Définitions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La rareté est l’inverse de la probabilité 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b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s</m:t>
                            </m:r>
                          </m:sub>
                        </m:sSub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/>
                  <a:t>L’information est le logarithme (déformé) de la rareté 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ln</m:t>
                        </m:r>
                      </m:e>
                      <m:sub>
                        <m:r>
                          <m:t>q</m:t>
                        </m:r>
                      </m:sub>
                    </m:sSub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b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s</m:t>
                            </m:r>
                          </m:sub>
                        </m:sSub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/>
                  <a:t>L’entropie est l’espérance de l’information 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​</m:t>
                          </m:r>
                        </m:e>
                        <m:sup>
                          <m:r>
                            <m:t>q</m:t>
                          </m:r>
                        </m:sup>
                      </m:sSup>
                      <m:r>
                        <m:t>H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s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s</m:t>
                              </m:r>
                            </m:sub>
                          </m:sSub>
                          <m:sSub>
                            <m:e>
                              <m:r>
                                <m:rPr>
                                  <m:sty m:val="p"/>
                                </m:rPr>
                                <m:t>ln</m:t>
                              </m:r>
                            </m:e>
                            <m:sub>
                              <m:r>
                                <m:t>q</m:t>
                              </m:r>
                            </m:sub>
                          </m:sSub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sSub>
                                <m:e>
                                  <m:r>
                                    <m:t>p</m:t>
                                  </m:r>
                                </m:e>
                                <m:sub>
                                  <m:r>
                                    <m:t>s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1.8 Nombres de Hill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Hill (1973) : Nombre d’espèces équiprobables ayant l’entropie des données. Nombre effectif (Wright 1931; Gregorius 1991).</a:t>
                </a:r>
              </a:p>
              <a:p>
                <a:pPr lvl="0" indent="0" marL="0">
                  <a:buNone/>
                </a:pPr>
                <a:r>
                  <a:rPr/>
                  <a:t>Résume la diversité à un seul nombre : diversité au sens strict (Jost 2006)</a:t>
                </a:r>
              </a:p>
              <a:p>
                <a:pPr lvl="0" indent="0" marL="0">
                  <a:buNone/>
                </a:pPr>
                <a:r>
                  <a:rPr/>
                  <a:t>La diversité est l’exponentielle de l’entropie (Marcon et al. 2014) 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​</m:t>
                          </m:r>
                        </m:e>
                        <m:sup>
                          <m:r>
                            <m:t>q</m:t>
                          </m:r>
                        </m:sup>
                      </m:sSup>
                      <m:r>
                        <m:t>D</m:t>
                      </m:r>
                      <m:r>
                        <m:rPr>
                          <m:sty m:val="p"/>
                        </m:rPr>
                        <m:t>=</m:t>
                      </m:r>
                      <m:sSubSup>
                        <m:e>
                          <m:r>
                            <m:t>e</m:t>
                          </m:r>
                        </m:e>
                        <m:sub>
                          <m:r>
                            <m:t>q</m:t>
                          </m:r>
                        </m:sub>
                        <m:sup>
                          <m:sSup>
                            <m:e>
                              <m:r>
                                <m:t>​</m:t>
                              </m:r>
                            </m:e>
                            <m:sup>
                              <m:r>
                                <m:t>q</m:t>
                              </m:r>
                            </m:sup>
                          </m:sSup>
                          <m:r>
                            <m:t>H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 Pratique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2.1 Barro Colorado Island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Diagramme rang-abondance (Whittaker 1965)</a:t>
            </a:r>
          </a:p>
          <a:p>
            <a:pPr lvl="0" indent="0" marL="0">
              <a:buNone/>
            </a:pPr>
          </a:p>
        </p:txBody>
      </p:sp>
      <p:pic>
        <p:nvPicPr>
          <p:cNvPr descr="EcoComplex2025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2.2 Courbe d’accumulation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Diversité de l’échantillon, asymptotique ou standardisée</a:t>
            </a:r>
          </a:p>
          <a:p>
            <a:pPr lvl="0" indent="0" marL="0">
              <a:buNone/>
            </a:pPr>
          </a:p>
        </p:txBody>
      </p:sp>
      <p:pic>
        <p:nvPicPr>
          <p:cNvPr descr="EcoComplex2025_files/figure-pptx/BCI_accu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2.3 Diversité asymptotique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 existe des estimateurs :</a:t>
            </a:r>
          </a:p>
          <a:p>
            <a:pPr lvl="0"/>
            <a:r>
              <a:rPr/>
              <a:t>Richesse : Chao (Chao 1984) ou Jacknife (Burnham and Overton 1978)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"divent"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div_richness</a:t>
            </a:r>
            <a:r>
              <a:rPr>
                <a:latin typeface="Courier"/>
              </a:rPr>
              <a:t>(BCI_50ha)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1 × 3
##   estimator   order diversity
##   &lt;chr&gt;       &lt;dbl&gt;     &lt;dbl&gt;
## 1 Jackknife 1     0       244</a:t>
            </a:r>
          </a:p>
          <a:p>
            <a:pPr lvl="0" indent="0" marL="0">
              <a:buNone/>
            </a:pPr>
          </a:p>
          <a:p>
            <a:pPr lvl="0"/>
            <a:r>
              <a:rPr/>
              <a:t>Entropie HCDT :</a:t>
            </a:r>
          </a:p>
          <a:p>
            <a:pPr lvl="1"/>
            <a:r>
              <a:rPr/>
              <a:t>Réduction du biais d’estimation (Chao and Jost 2015)</a:t>
            </a:r>
          </a:p>
          <a:p>
            <a:pPr lvl="1"/>
            <a:r>
              <a:rPr/>
              <a:t>Estimation de la distribution réelle (Chao et al. 2015)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div_hill</a:t>
            </a:r>
            <a:r>
              <a:rPr>
                <a:latin typeface="Courier"/>
              </a:rPr>
              <a:t>(BCI_50ha, </a:t>
            </a:r>
            <a:r>
              <a:rPr>
                <a:solidFill>
                  <a:srgbClr val="7D9029"/>
                </a:solidFill>
                <a:latin typeface="Courier"/>
              </a:rPr>
              <a:t>q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1 × 3
##   estimator order diversity
##   &lt;chr&gt;     &lt;dbl&gt;     &lt;dbl&gt;
## 1 UnveilJ       1      72.0</a:t>
            </a:r>
          </a:p>
          <a:p>
            <a:pPr lvl="0" indent="0" marL="0">
              <a:buNone/>
            </a:pP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2.4 Profil de diversité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Diversité en fonction de son ordre (Tothmeresz 1995)</a:t>
            </a:r>
          </a:p>
          <a:p>
            <a:pPr lvl="0" indent="0" marL="0">
              <a:buNone/>
            </a:pPr>
          </a:p>
        </p:txBody>
      </p:sp>
      <p:pic>
        <p:nvPicPr>
          <p:cNvPr descr="EcoComplex2025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3 Diversité phylogénétique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3.1 Dendrogramme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Phylogénie dans l’idéal, taxonomie possible (Ricotta et al. 2012).</a:t>
            </a:r>
          </a:p>
        </p:txBody>
      </p:sp>
      <p:pic>
        <p:nvPicPr>
          <p:cNvPr descr="images/dendro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58900"/>
            <a:ext cx="5105400" cy="208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 Définition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L’entropie est l’information moyenne au cours du temps (Pavoine and Bonsall 2011).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​</m:t>
                          </m:r>
                        </m:e>
                        <m:sup>
                          <m:r>
                            <m:t>q</m:t>
                          </m:r>
                        </m:sup>
                      </m:sSup>
                      <m:acc>
                        <m:accPr>
                          <m:chr m:val="‾"/>
                        </m:accPr>
                        <m:e>
                          <m:r>
                            <m:t>H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k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t>T</m:t>
                                  </m:r>
                                </m:e>
                                <m:sub>
                                  <m:r>
                                    <m:t>k</m:t>
                                  </m:r>
                                </m:sub>
                              </m:sSub>
                            </m:num>
                            <m:den>
                              <m:r>
                                <m:t>T</m:t>
                              </m:r>
                            </m:den>
                          </m:f>
                          <m:sSubSup>
                            <m:e>
                              <m:r>
                                <m:t>​</m:t>
                              </m:r>
                            </m:e>
                            <m:sub>
                              <m:r>
                                <m:t>k</m:t>
                              </m:r>
                            </m:sub>
                            <m:sup>
                              <m:r>
                                <m:t>q</m:t>
                              </m:r>
                            </m:sup>
                          </m:sSubSup>
                          <m:r>
                            <m:t>H</m:t>
                          </m:r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La diversité est son exponentielle (Marcon and Hérault 2015).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4 Décomposition de la diversité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4.1 Définitions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Whittaker (1960) : plusieurs communautés regroupées dans une métacommunauté dont les communautés sont des échantillons. La diversité est la richesse (entropie et diversité).</a:t>
                </a:r>
              </a:p>
              <a:p>
                <a:pPr lvl="0"/>
                <a:r>
                  <a:rPr/>
                  <a:t>Diversité </a:t>
                </a:r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  <a:r>
                  <a:rPr/>
                  <a:t> : diversité moyenne des communautés (nombre moyen d’espèces)</a:t>
                </a:r>
              </a:p>
              <a:p>
                <a:pPr lvl="0"/>
                <a:r>
                  <a:rPr/>
                  <a:t>Diversité </a:t>
                </a:r>
                <a14:m>
                  <m:oMath xmlns:m="http://schemas.openxmlformats.org/officeDocument/2006/math">
                    <m:r>
                      <m:t>γ</m:t>
                    </m:r>
                  </m:oMath>
                </a14:m>
                <a:r>
                  <a:rPr/>
                  <a:t> : de la métacommunauté (nombre total d’espèces)</a:t>
                </a:r>
              </a:p>
              <a:p>
                <a:pPr lvl="0"/>
                <a:r>
                  <a:rPr/>
                  <a:t>Diversité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: entre les communautés. Ratio </a:t>
                </a:r>
                <a14:m>
                  <m:oMath xmlns:m="http://schemas.openxmlformats.org/officeDocument/2006/math">
                    <m:r>
                      <m:t>γ</m:t>
                    </m:r>
                    <m:r>
                      <m:rPr>
                        <m:sty m:val="p"/>
                      </m:rPr>
                      <m:t>/</m:t>
                    </m:r>
                    <m:r>
                      <m:t>α</m:t>
                    </m:r>
                  </m:oMath>
                </a14:m>
                <a:r>
                  <a:rPr/>
                  <a:t> ou différence </a:t>
                </a:r>
                <a14:m>
                  <m:oMath xmlns:m="http://schemas.openxmlformats.org/officeDocument/2006/math">
                    <m:r>
                      <m:t>γ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α</m:t>
                    </m:r>
                  </m:oMath>
                </a14:m>
                <a:r>
                  <a:rPr/>
                  <a:t> (Lande 1996)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 Définitions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Précisément :</a:t>
                </a:r>
              </a:p>
              <a:p>
                <a:pPr lvl="0"/>
                <a:r>
                  <a:rPr/>
                  <a:t>L’entropie </a:t>
                </a:r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  <a:r>
                  <a:rPr/>
                  <a:t> est la moyenne des entropies locales : quantité d’information</a:t>
                </a:r>
              </a:p>
              <a:p>
                <a:pPr lvl="0"/>
                <a:r>
                  <a:rPr/>
                  <a:t>La diversité est l’exponentielle de l’entropie</a:t>
                </a:r>
              </a:p>
              <a:p>
                <a:pPr lvl="0"/>
                <a:r>
                  <a:rPr/>
                  <a:t>La diversité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est le rapport des diversités, l’entropie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la différence des entropies</a:t>
                </a:r>
              </a:p>
              <a:p>
                <a:pPr lvl="0"/>
                <a:r>
                  <a:rPr/>
                  <a:t>La diversité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est un nombre effectif de communautés : communautés de même poids, sans aucune espèce commune (Jost 2007)</a:t>
                </a:r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 Exemple simple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3 Communautés avec respectivement 6, 4 et 5 espèces ; 10 espèces au total :</a:t>
                </a:r>
              </a:p>
              <a:p>
                <a:pPr lvl="0"/>
                <a:r>
                  <a:rPr/>
                  <a:t>Diversité </a:t>
                </a:r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  <a:r>
                  <a:rPr/>
                  <a:t> : 5 espèces par communauté</a:t>
                </a:r>
              </a:p>
              <a:p>
                <a:pPr lvl="0"/>
                <a:r>
                  <a:rPr/>
                  <a:t>Diversité </a:t>
                </a:r>
                <a14:m>
                  <m:oMath xmlns:m="http://schemas.openxmlformats.org/officeDocument/2006/math">
                    <m:r>
                      <m:t>γ</m:t>
                    </m:r>
                  </m:oMath>
                </a14:m>
                <a:r>
                  <a:rPr/>
                  <a:t> : 10 espèces</a:t>
                </a:r>
              </a:p>
              <a:p>
                <a:pPr lvl="0"/>
                <a:r>
                  <a:rPr/>
                  <a:t>Diversité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: 2 communautés effectives</a:t>
                </a:r>
              </a:p>
              <a:p>
                <a:pPr lvl="0" indent="0" marL="0">
                  <a:buNone/>
                </a:pPr>
                <a:r>
                  <a:rPr/>
                  <a:t>10 espèces = 5 espèces par communauté X 2 communautés</a:t>
                </a:r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4.4 BCI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pic>
        <p:nvPicPr>
          <p:cNvPr descr="EcoComplex2025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5 Conclusion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5.1 Messages à emporter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L’entropie permet de caractériser la diversité : c’est l’espérance de l’information apportée par un individu</a:t>
            </a:r>
          </a:p>
          <a:p>
            <a:pPr lvl="0" indent="0" marL="0">
              <a:buNone/>
            </a:pPr>
            <a:r>
              <a:rPr/>
              <a:t>L’entropie est une quantité d’information</a:t>
            </a:r>
          </a:p>
          <a:p>
            <a:pPr lvl="0" indent="0" marL="0">
              <a:buNone/>
            </a:pPr>
            <a:r>
              <a:rPr/>
              <a:t>La diversité au sens strict est un nombre effectif (d’espèces, de communautés…)</a:t>
            </a:r>
          </a:p>
          <a:p>
            <a:pPr lvl="0" indent="0" marL="0">
              <a:buNone/>
            </a:pPr>
            <a:r>
              <a:rPr/>
              <a:t>Pas d’indices de diversité ici : seulement des mesures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5.2 Messages à emporter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La rareté est l’inverse de la probabilité 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b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s</m:t>
                            </m:r>
                          </m:sub>
                        </m:sSub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/>
                  <a:t>L’information est le logarithme (déformé) de la rareté 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ln</m:t>
                        </m:r>
                      </m:e>
                      <m:sub>
                        <m:r>
                          <m:t>q</m:t>
                        </m:r>
                      </m:sub>
                    </m:sSub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b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s</m:t>
                            </m:r>
                          </m:sub>
                        </m:sSub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/>
                  <a:t>L’entropie est l’espérance de l’information 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​</m:t>
                          </m:r>
                        </m:e>
                        <m:sup>
                          <m:r>
                            <m:t>q</m:t>
                          </m:r>
                        </m:sup>
                      </m:sSup>
                      <m:r>
                        <m:t>H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s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s</m:t>
                              </m:r>
                            </m:sub>
                          </m:sSub>
                          <m:sSub>
                            <m:e>
                              <m:r>
                                <m:rPr>
                                  <m:sty m:val="p"/>
                                </m:rPr>
                                <m:t>ln</m:t>
                              </m:r>
                            </m:e>
                            <m:sub>
                              <m:r>
                                <m:t>q</m:t>
                              </m:r>
                            </m:sub>
                          </m:sSub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sSub>
                                <m:e>
                                  <m:r>
                                    <m:t>p</m:t>
                                  </m:r>
                                </m:e>
                                <m:sub>
                                  <m:r>
                                    <m:t>s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La diversité est son exponentielle 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​</m:t>
                          </m:r>
                        </m:e>
                        <m:sup>
                          <m:r>
                            <m:t>q</m:t>
                          </m:r>
                        </m:sup>
                      </m:sSup>
                      <m:r>
                        <m:t>D</m:t>
                      </m:r>
                      <m:r>
                        <m:rPr>
                          <m:sty m:val="p"/>
                        </m:rPr>
                        <m:t>=</m:t>
                      </m:r>
                      <m:sSubSup>
                        <m:e>
                          <m:r>
                            <m:t>e</m:t>
                          </m:r>
                        </m:e>
                        <m:sub>
                          <m:r>
                            <m:t>q</m:t>
                          </m:r>
                        </m:sub>
                        <m:sup>
                          <m:sSup>
                            <m:e>
                              <m:r>
                                <m:t>​</m:t>
                              </m:r>
                            </m:e>
                            <m:sup>
                              <m:r>
                                <m:t>q</m:t>
                              </m:r>
                            </m:sup>
                          </m:sSup>
                          <m:r>
                            <m:t>H</m:t>
                          </m:r>
                        </m:sup>
                      </m:sSub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En pratique : package </a:t>
                </a:r>
                <a:r>
                  <a:rPr>
                    <a:hlinkClick r:id="rId2"/>
                  </a:rPr>
                  <a:t>divent</a:t>
                </a:r>
                <a:r>
                  <a:rPr/>
                  <a:t> et de la lecture (</a:t>
                </a:r>
                <a:r>
                  <a:rPr>
                    <a:hlinkClick r:id="rId3"/>
                  </a:rPr>
                  <a:t>écran</a:t>
                </a:r>
                <a:r>
                  <a:rPr/>
                  <a:t> ou </a:t>
                </a:r>
                <a:r>
                  <a:rPr>
                    <a:hlinkClick r:id="rId4"/>
                  </a:rPr>
                  <a:t>PDF</a:t>
                </a:r>
                <a:r>
                  <a:rPr/>
                  <a:t>).</a:t>
                </a:r>
              </a:p>
            </p:txBody>
          </p:sp>
        </mc:Choice>
      </mc:AlternateContent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5.3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Burnham, K. P., and W. S. Overton. 1978. “Estimation of the Size of a Closed Population When Capture Probabilities Vary Among Animals.” </a:t>
            </a:r>
            <a:r>
              <a:rPr i="1"/>
              <a:t>Biometrika</a:t>
            </a:r>
            <a:r>
              <a:rPr/>
              <a:t> 65 (3): 625–33. </a:t>
            </a:r>
            <a:r>
              <a:rPr>
                <a:hlinkClick r:id="rId2"/>
              </a:rPr>
              <a:t>https://doi.org/10.2307/2335915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Chao, Anne. 1984. “Nonparametric Estimation of the Number of Classes in a Population.” </a:t>
            </a:r>
            <a:r>
              <a:rPr i="1"/>
              <a:t>Scandinavian Journal of Statistics</a:t>
            </a:r>
            <a:r>
              <a:rPr/>
              <a:t> 11 (4): 265–70. </a:t>
            </a:r>
            <a:r>
              <a:rPr>
                <a:hlinkClick r:id="rId3"/>
              </a:rPr>
              <a:t>http://www.jstor.org/stable/4615964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Chao, Anne, T. C. Hsieh, Robin L. Chazdon, Robert K. Colwell, and Nicholas J. Gotelli. 2015. “Unveiling the Species-Rank Abundance Distribution by Generalizing Good-Turing Sample Coverage Theory.” </a:t>
            </a:r>
            <a:r>
              <a:rPr i="1"/>
              <a:t>Ecology</a:t>
            </a:r>
            <a:r>
              <a:rPr/>
              <a:t> 96 (5): 1189–1201. </a:t>
            </a:r>
            <a:r>
              <a:rPr>
                <a:hlinkClick r:id="rId4"/>
              </a:rPr>
              <a:t>https://doi.org/10.1890/14-0550.1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Chao, Anne, and Lou Jost. 2015. “Estimating Diversity and Entropy Profiles via Discovery Rates of New Species.” </a:t>
            </a:r>
            <a:r>
              <a:rPr i="1"/>
              <a:t>Methods in Ecology and Evolution</a:t>
            </a:r>
            <a:r>
              <a:rPr/>
              <a:t> 6 (8): 873–82. </a:t>
            </a:r>
            <a:r>
              <a:rPr>
                <a:hlinkClick r:id="rId5"/>
              </a:rPr>
              <a:t>https://doi.org/10.1111/2041-210X.12349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Daróczy, Zoltán. 1970. “Generalized Information Functions.” </a:t>
            </a:r>
            <a:r>
              <a:rPr i="1"/>
              <a:t>Information and Control</a:t>
            </a:r>
            <a:r>
              <a:rPr/>
              <a:t> 16 (1): 36–51. </a:t>
            </a:r>
            <a:r>
              <a:rPr>
                <a:hlinkClick r:id="rId6"/>
              </a:rPr>
              <a:t>https://doi.org/10.1016/s0019-9958(70)80040-7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Grabchak, Michael, Eric Marcon, Gabriel Lang, and Zhiyi Zhang. 2017. “The Generalized Simpson’s Entropy Is a Measure of Biodiversity.” </a:t>
            </a:r>
            <a:r>
              <a:rPr i="1"/>
              <a:t>Plos One</a:t>
            </a:r>
            <a:r>
              <a:rPr/>
              <a:t> 12 (3): e0173305. </a:t>
            </a:r>
            <a:r>
              <a:rPr>
                <a:hlinkClick r:id="rId7"/>
              </a:rPr>
              <a:t>https://doi.org/10.1371/journal.pone.0173305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Gregorius, Hans-Rolf. 1991. “On the Concept of Effective Number.” </a:t>
            </a:r>
            <a:r>
              <a:rPr i="1"/>
              <a:t>Theoretical Population Biology</a:t>
            </a:r>
            <a:r>
              <a:rPr/>
              <a:t> 40 (2): 269–83. </a:t>
            </a:r>
            <a:r>
              <a:rPr>
                <a:hlinkClick r:id="rId8"/>
              </a:rPr>
              <a:t>https://doi.org/10.1016/0040-5809(91)90056-L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Havrda, Jan, and František Charvát. 1967. “Quantification Method of Classification Processes. Concept of Structural Alpha-Entropy.” </a:t>
            </a:r>
            <a:r>
              <a:rPr i="1"/>
              <a:t>Kybernetika</a:t>
            </a:r>
            <a:r>
              <a:rPr/>
              <a:t> 3 (1): 30–35.</a:t>
            </a:r>
          </a:p>
          <a:p>
            <a:pPr lvl="0" indent="0" marL="0">
              <a:buNone/>
            </a:pPr>
            <a:r>
              <a:rPr/>
              <a:t>Hill, M. O. 1973. “Diversity and Evenness: A Unifying Notation and Its Consequences.” </a:t>
            </a:r>
            <a:r>
              <a:rPr i="1"/>
              <a:t>Ecology</a:t>
            </a:r>
            <a:r>
              <a:rPr/>
              <a:t> 54 (2): 427–32. </a:t>
            </a:r>
            <a:r>
              <a:rPr>
                <a:hlinkClick r:id="rId9"/>
              </a:rPr>
              <a:t>https://doi.org/10.2307/1934352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Jost, Lou. 2006. “Entropy and Diversity.” </a:t>
            </a:r>
            <a:r>
              <a:rPr i="1"/>
              <a:t>Oikos</a:t>
            </a:r>
            <a:r>
              <a:rPr/>
              <a:t> 113 (2): 363–75. </a:t>
            </a:r>
            <a:r>
              <a:rPr>
                <a:hlinkClick r:id="rId10"/>
              </a:rPr>
              <a:t>https://doi.org/10.1111/j.2006.0030-1299.14714.x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———. 2007. “Partitioning Diversity into Independent Alpha and Beta Components.” </a:t>
            </a:r>
            <a:r>
              <a:rPr i="1"/>
              <a:t>Ecology</a:t>
            </a:r>
            <a:r>
              <a:rPr/>
              <a:t> 88 (10): 2427–39. </a:t>
            </a:r>
            <a:r>
              <a:rPr>
                <a:hlinkClick r:id="rId11"/>
              </a:rPr>
              <a:t>https://doi.org/10.1890/06-1736.1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Lande, Russell. 1996. “Statistics and Partitioning of Species Diversity, and Similarity Among Multiple Communities.” </a:t>
            </a:r>
            <a:r>
              <a:rPr i="1"/>
              <a:t>Oikos</a:t>
            </a:r>
            <a:r>
              <a:rPr/>
              <a:t> 76 (1): 5–13. </a:t>
            </a:r>
            <a:r>
              <a:rPr>
                <a:hlinkClick r:id="rId12"/>
              </a:rPr>
              <a:t>https://doi.org/10.2307/3545743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Liang, J., T. W. Crowther, N. Picard, S. Wiser, M. Zhou, G. Alberti, E.-D. Schulze, et al. 2016. “Positive Biodiversity-Productivity Relationship Predominant in Global Forests.” </a:t>
            </a:r>
            <a:r>
              <a:rPr i="1"/>
              <a:t>Science</a:t>
            </a:r>
            <a:r>
              <a:rPr/>
              <a:t> 354 (6309): aaf8957. </a:t>
            </a:r>
            <a:r>
              <a:rPr>
                <a:hlinkClick r:id="rId13"/>
              </a:rPr>
              <a:t>https://doi.org/10.1126/science.aaf8957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Marcon, Eric, and Bruno Hérault. 2015. “Decomposing Phylodiversity.” </a:t>
            </a:r>
            <a:r>
              <a:rPr i="1"/>
              <a:t>Methods in Ecology and Evolution</a:t>
            </a:r>
            <a:r>
              <a:rPr/>
              <a:t> 6 (3): 333–39. </a:t>
            </a:r>
            <a:r>
              <a:rPr>
                <a:hlinkClick r:id="rId14"/>
              </a:rPr>
              <a:t>https://doi.org/10.1111/2041-210X.12323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Marcon, Eric, Ivan Scotti, Bruno Hérault, Vivien Rossi, and Gabriel Lang. 2014. “Generalization of the Partitioning of Shannon Diversity.” </a:t>
            </a:r>
            <a:r>
              <a:rPr i="1"/>
              <a:t>Plos One</a:t>
            </a:r>
            <a:r>
              <a:rPr/>
              <a:t> 9 (3): e90289. </a:t>
            </a:r>
            <a:r>
              <a:rPr>
                <a:hlinkClick r:id="rId15"/>
              </a:rPr>
              <a:t>https://doi.org/10.1371/journal.pone.0090289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Patil, Ganapati P., and Charles Taillie. 1982. “Diversity as a Concept and Its Measurement.” </a:t>
            </a:r>
            <a:r>
              <a:rPr i="1"/>
              <a:t>Journal of the American Statistical Association</a:t>
            </a:r>
            <a:r>
              <a:rPr/>
              <a:t> 77 (379): 548–61. </a:t>
            </a:r>
            <a:r>
              <a:rPr>
                <a:hlinkClick r:id="rId16"/>
              </a:rPr>
              <a:t>https://doi.org/10.2307/2287709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Pavoine, Sandrine, and Michael B. Bonsall. 2011. “Measuring Biodiversity to Explain Community Assembly: A Unified Approach.” </a:t>
            </a:r>
            <a:r>
              <a:rPr i="1"/>
              <a:t>Biological Reviews</a:t>
            </a:r>
            <a:r>
              <a:rPr/>
              <a:t> 86 (4): 792–812. </a:t>
            </a:r>
            <a:r>
              <a:rPr>
                <a:hlinkClick r:id="rId17"/>
              </a:rPr>
              <a:t>https://doi.org/10.1111/j.1469-185X.2010.00171.x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Rényi, Alfréd. 1961. “On Measures of Entropy and Information.” In </a:t>
            </a:r>
            <a:r>
              <a:rPr i="1"/>
              <a:t>4th Berkeley Symposium on Mathematical Statistics and Probability</a:t>
            </a:r>
            <a:r>
              <a:rPr/>
              <a:t>, edited by Jerzy Neyman, 1:547–61. University of California Press.</a:t>
            </a:r>
          </a:p>
          <a:p>
            <a:pPr lvl="0" indent="0" marL="0">
              <a:buNone/>
            </a:pPr>
            <a:r>
              <a:rPr/>
              <a:t>Ricotta, Carlo, Giovanni Bacaro, Michela Marignani, Sandrine Godefroid, and Stefano Mazzoleni. 2012. “Computing Diversity from Dated Phylogenies and Taxonomic Hierarchies: Does It Make a Difference to the Conclusions?” </a:t>
            </a:r>
            <a:r>
              <a:rPr i="1"/>
              <a:t>Oecologia</a:t>
            </a:r>
            <a:r>
              <a:rPr/>
              <a:t> 170 (2): 501–6. </a:t>
            </a:r>
            <a:r>
              <a:rPr>
                <a:hlinkClick r:id="rId18"/>
              </a:rPr>
              <a:t>https://doi.org/10.1007/s00442-012-2318-8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Shannon, Claude E. 1948. “A Mathematical Theory of Communication.” </a:t>
            </a:r>
            <a:r>
              <a:rPr i="1"/>
              <a:t>The Bell System Technical Journal</a:t>
            </a:r>
            <a:r>
              <a:rPr/>
              <a:t> 27 (3): 379–423, 623–56. </a:t>
            </a:r>
            <a:r>
              <a:rPr>
                <a:hlinkClick r:id="rId19"/>
              </a:rPr>
              <a:t>https://doi.org/10.1002/j.1538-7305.1948.tb01338.x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Tothmeresz, Béla. 1995. “Comparison of Different Methods for Diversity Ordering.” </a:t>
            </a:r>
            <a:r>
              <a:rPr i="1"/>
              <a:t>Journal of Vegetation Science</a:t>
            </a:r>
            <a:r>
              <a:rPr/>
              <a:t> 6 (2): 283–90. </a:t>
            </a:r>
            <a:r>
              <a:rPr>
                <a:hlinkClick r:id="rId20"/>
              </a:rPr>
              <a:t>https://doi.org/10.2307/3236223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Tsallis, Constantino. 1994. “What Are the Numbers That Experiments Provide?” </a:t>
            </a:r>
            <a:r>
              <a:rPr i="1"/>
              <a:t>Química Nova</a:t>
            </a:r>
            <a:r>
              <a:rPr/>
              <a:t> 17 (6): 468–71.</a:t>
            </a:r>
          </a:p>
          <a:p>
            <a:pPr lvl="0" indent="0" marL="0">
              <a:buNone/>
            </a:pPr>
            <a:r>
              <a:rPr/>
              <a:t>———. 1998. “Generalized Entropy-Based Criterion for Consistent Testing.” </a:t>
            </a:r>
            <a:r>
              <a:rPr i="1"/>
              <a:t>Physical Review E</a:t>
            </a:r>
            <a:r>
              <a:rPr/>
              <a:t> 58 (2): 1442–45. </a:t>
            </a:r>
            <a:r>
              <a:rPr>
                <a:hlinkClick r:id="rId21"/>
              </a:rPr>
              <a:t>https://doi.org/10.1103/PhysRevE.58.1442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Whittaker, R. H. 1960. “Vegetation of the Siskiyou Mountains, Oregon and California.” </a:t>
            </a:r>
            <a:r>
              <a:rPr i="1"/>
              <a:t>Ecological Monographs</a:t>
            </a:r>
            <a:r>
              <a:rPr/>
              <a:t> 30 (3): 279–338. </a:t>
            </a:r>
            <a:r>
              <a:rPr>
                <a:hlinkClick r:id="rId22"/>
              </a:rPr>
              <a:t>https://doi.org/10.2307/1943563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———. 1965. “Dominance and Diversity in Land Plant Communities.” </a:t>
            </a:r>
            <a:r>
              <a:rPr i="1"/>
              <a:t>Science</a:t>
            </a:r>
            <a:r>
              <a:rPr/>
              <a:t> 147 (3655): 250–60. </a:t>
            </a:r>
            <a:r>
              <a:rPr>
                <a:hlinkClick r:id="rId23"/>
              </a:rPr>
              <a:t>https://doi.org/10.1126/science.147.3655.250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Wright, Sewall. 1931. “Evolution in Mendelian Populations.” </a:t>
            </a:r>
            <a:r>
              <a:rPr i="1"/>
              <a:t>Genetics</a:t>
            </a:r>
            <a:r>
              <a:rPr/>
              <a:t> 16 (2): 97–159. </a:t>
            </a:r>
            <a:r>
              <a:rPr>
                <a:hlinkClick r:id="rId24"/>
              </a:rPr>
              <a:t>https://www.genetics.org/content/16/2/97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Mesurer la Biodiversité</dc:title>
  <dc:creator>Eric Marcon</dc:creator>
  <cp:keywords/>
  <dcterms:created xsi:type="dcterms:W3CDTF">2025-11-27T18:41:45Z</dcterms:created>
  <dcterms:modified xsi:type="dcterms:W3CDTF">2025-11-27T18:41:45Z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style">
    <vt:lpwstr>chicago</vt:lpwstr>
  </property>
  <property fmtid="{D5CDD505-2E9C-101B-9397-08002B2CF9AE}" pid="3" name="bibliography">
    <vt:lpwstr>references.bib</vt:lpwstr>
  </property>
  <property fmtid="{D5CDD505-2E9C-101B-9397-08002B2CF9AE}" pid="4" name="date">
    <vt:lpwstr>27 novembre 2025</vt:lpwstr>
  </property>
  <property fmtid="{D5CDD505-2E9C-101B-9397-08002B2CF9AE}" pid="5" name="github-repo">
    <vt:lpwstr>EricMarcon/EcoComplex2025</vt:lpwstr>
  </property>
  <property fmtid="{D5CDD505-2E9C-101B-9397-08002B2CF9AE}" pid="6" name="output">
    <vt:lpwstr/>
  </property>
  <property fmtid="{D5CDD505-2E9C-101B-9397-08002B2CF9AE}" pid="7" name="url">
    <vt:lpwstr>https://EricMarcon.github.io/EcoComplex2025/</vt:lpwstr>
  </property>
  <property fmtid="{D5CDD505-2E9C-101B-9397-08002B2CF9AE}" pid="8" name="urlcolor">
    <vt:lpwstr>blue</vt:lpwstr>
  </property>
</Properties>
</file>